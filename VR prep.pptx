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A830E63-6D80-35F0-241C-965EDF53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60" y="6537960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01 •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2E6"/>
                </a:solidFill>
                <a:latin typeface="Arial Black"/>
              </a:rPr>
              <a:t>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881360" cy="32004"/>
          </a:xfrm>
          <a:prstGeom prst="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B9B9B9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74920" cy="342900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21212"/>
                </a:solidFill>
                <a:latin typeface="Arial Black"/>
              </a:rPr>
              <a:t>1  CURRENT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7" y="2926081"/>
            <a:ext cx="4672583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21212"/>
                </a:solidFill>
                <a:latin typeface="Arial"/>
              </a:rPr>
              <a:t>• Students prepare using videos, online platforms, self-practice and peers.
• Many students still feel nervous during interviews.
• Realistic mock interview opportunities are limited.
• Feedback after practice is often limited or generic.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74920" cy="342900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3117" y="2286000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212"/>
                </a:solidFill>
                <a:latin typeface="Arial Black"/>
              </a:rPr>
              <a:t>2  SYSTEM-LEVEL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7" y="2889504"/>
            <a:ext cx="4672583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121212"/>
                </a:solidFill>
                <a:latin typeface="Arial"/>
              </a:rPr>
              <a:t>• Existing resources teach preparation, but do not fully simulate the interview experience.
• Students need practice with technical, behavioral and follow-up questions.
• Placement faculty need better visibility into student performance.
• Company and role differences are not always reflected in practice.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5623560"/>
            <a:ext cx="1737360" cy="347472"/>
          </a:xfrm>
          <a:prstGeom prst="round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65192" y="567842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THE 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9B9B9"/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37CA238-0A6D-4080-B185-B329AE78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02 •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52" y="6655972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03 •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2E6"/>
                </a:solidFill>
                <a:latin typeface="Arial Black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881360" cy="32004"/>
          </a:xfrm>
          <a:prstGeom prst="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2FF37"/>
                </a:solidFill>
                <a:latin typeface="Arial Black"/>
              </a:rPr>
              <a:t>GOALS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240280"/>
            <a:ext cx="384048" cy="384048"/>
          </a:xfrm>
          <a:prstGeom prst="ellipse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29514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6771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5F5"/>
                </a:solidFill>
                <a:latin typeface="Arial"/>
              </a:rPr>
              <a:t>Provide realistic AR/VR interview practice.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926080"/>
            <a:ext cx="384048" cy="384048"/>
          </a:xfrm>
          <a:prstGeom prst="ellipse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5351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5F5"/>
                </a:solidFill>
                <a:latin typeface="Arial"/>
              </a:rPr>
              <a:t>Support company, role and resume-based questions.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611880"/>
            <a:ext cx="384048" cy="384048"/>
          </a:xfrm>
          <a:prstGeom prst="ellipse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66674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3931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5F5"/>
                </a:solidFill>
                <a:latin typeface="Arial"/>
              </a:rPr>
              <a:t>Generate natural follow-up questions.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297680"/>
            <a:ext cx="384048" cy="384048"/>
          </a:xfrm>
          <a:prstGeom prst="ellipse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35254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2511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5F5"/>
                </a:solidFill>
                <a:latin typeface="Arial"/>
              </a:rPr>
              <a:t>Evaluate technical and communication performance.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983480"/>
            <a:ext cx="384048" cy="384048"/>
          </a:xfrm>
          <a:prstGeom prst="ellipse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503834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1091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5F5F5"/>
                </a:solidFill>
                <a:latin typeface="Arial"/>
              </a:rPr>
              <a:t>Provide actionable feedback for improvement.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3829538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B2A9F5"/>
                </a:solidFill>
                <a:latin typeface="Arial Black"/>
              </a:rPr>
              <a:t>INTENDED</a:t>
            </a:r>
            <a:r>
              <a:rPr lang="en-US" sz="1700" b="1" dirty="0">
                <a:solidFill>
                  <a:srgbClr val="B2A9F5"/>
                </a:solidFill>
                <a:latin typeface="Arial Black"/>
              </a:rPr>
              <a:t> </a:t>
            </a:r>
            <a:r>
              <a:rPr sz="1700" b="1" dirty="0">
                <a:solidFill>
                  <a:srgbClr val="B2A9F5"/>
                </a:solidFill>
                <a:latin typeface="Arial Black"/>
              </a:rPr>
              <a:t>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194560"/>
            <a:ext cx="4800600" cy="658368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6248" y="2312262"/>
            <a:ext cx="4398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2"/>
                </a:solidFill>
                <a:latin typeface="Arial Black"/>
              </a:rPr>
              <a:t>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577438"/>
            <a:ext cx="4398264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21212"/>
                </a:solidFill>
                <a:latin typeface="Arial"/>
              </a:rPr>
              <a:t>Students become more comfortable facing interviews.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017520"/>
            <a:ext cx="4800600" cy="658368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3143037"/>
            <a:ext cx="4398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2"/>
                </a:solidFill>
                <a:latin typeface="Arial Black"/>
              </a:rPr>
              <a:t>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3389925"/>
            <a:ext cx="4398264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21212"/>
                </a:solidFill>
                <a:latin typeface="Arial"/>
              </a:rPr>
              <a:t>Practice reflects real interview conditions.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840480"/>
            <a:ext cx="4800600" cy="658368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56248" y="3981627"/>
            <a:ext cx="4398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2"/>
                </a:solidFill>
                <a:latin typeface="Arial Black"/>
              </a:rPr>
              <a:t>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212181"/>
            <a:ext cx="4398264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21212"/>
                </a:solidFill>
                <a:latin typeface="Arial"/>
              </a:rPr>
              <a:t>Students understand strengths and improvement areas.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663440"/>
            <a:ext cx="4800600" cy="658368"/>
          </a:xfrm>
          <a:prstGeom prst="round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8" y="4796771"/>
            <a:ext cx="4398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2"/>
                </a:solidFill>
                <a:latin typeface="Arial Black"/>
              </a:rPr>
              <a:t>VISIBILITY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5038344"/>
            <a:ext cx="4398264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21212"/>
                </a:solidFill>
                <a:latin typeface="Arial"/>
              </a:rPr>
              <a:t>Faculty can review student performance and progress.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5989320"/>
            <a:ext cx="4479388" cy="347472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10708" y="6038193"/>
            <a:ext cx="4572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SUCCESS = PRACTICE + FEEDBACK + READINESS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9B9B9"/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4477" y="367089"/>
            <a:ext cx="17373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04 •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/>
              </a:rPr>
              <a:t>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881360" cy="32004"/>
          </a:xfrm>
          <a:prstGeom prst="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4983480" cy="96012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581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1 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45811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21212"/>
                </a:solidFill>
                <a:latin typeface="Arial"/>
              </a:rPr>
              <a:t>VR headsets may not be available to every student.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4983480" cy="96012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993392"/>
            <a:ext cx="4581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2  USABILITY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50592"/>
            <a:ext cx="45811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Students may have different levels of AR/VR familiarity.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4983480" cy="96012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319272"/>
            <a:ext cx="4581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3  AI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76472"/>
            <a:ext cx="45811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Generated questions and feedback need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54680"/>
            <a:ext cx="4983480" cy="96012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3319272"/>
            <a:ext cx="4581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4  TIME &amp;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776472"/>
            <a:ext cx="45811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A student project limits implementation and testing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80560"/>
            <a:ext cx="4983480" cy="960120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645152"/>
            <a:ext cx="4581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5 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102352"/>
            <a:ext cx="45811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Resume and performance data must be handled securely.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480560"/>
            <a:ext cx="4983480" cy="960120"/>
          </a:xfrm>
          <a:prstGeom prst="round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4645152"/>
            <a:ext cx="4581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6 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102352"/>
            <a:ext cx="45811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The experience should have a practical non-VR fallback.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54CA6C8-1C04-324D-E793-8E6B20BD7F4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05 •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rial Black"/>
              </a:rPr>
              <a:t>WHERE THE DESIGN CAN EVOLVE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881360" cy="32004"/>
          </a:xfrm>
          <a:prstGeom prst="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B9B9B9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423160" cy="297180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764666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21212"/>
                </a:solidFill>
                <a:latin typeface="Arial Black"/>
              </a:rPr>
              <a:t>1  INTERVIEW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21866"/>
            <a:ext cx="202082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21212"/>
                </a:solidFill>
                <a:latin typeface="Arial"/>
              </a:rPr>
              <a:t>AR/VR immersive interview
Web/desktop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2423160" cy="297180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2764666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2  QUESTION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221866"/>
            <a:ext cx="202082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21212"/>
                </a:solidFill>
                <a:latin typeface="Arial"/>
              </a:rPr>
              <a:t>Company • Role • Resume
Adaptive follow-up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2423160" cy="297180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764666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3  FEEDBACK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3221866"/>
            <a:ext cx="202082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Technical • Communication
Confidence • Overall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011680"/>
            <a:ext cx="2423160" cy="297180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2764666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4  FACULTY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3221866"/>
            <a:ext cx="202082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Performance dashboard
Readiness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19" y="5623560"/>
            <a:ext cx="3409773" cy="347472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19" y="5666491"/>
            <a:ext cx="340977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EXPLORE → VALIDATE → 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9B9B9"/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BF3501C-F9FE-D2E1-1DB3-B98A3489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965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06 • EMPATHY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8800" y="1100719"/>
            <a:ext cx="2507957" cy="347472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8800" y="1155583"/>
            <a:ext cx="2434805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100" b="1" dirty="0">
                <a:solidFill>
                  <a:srgbClr val="121212"/>
                </a:solidFill>
                <a:latin typeface="Arial Black"/>
              </a:rPr>
              <a:t>PASSED OUT </a:t>
            </a:r>
            <a:r>
              <a:rPr sz="1100" b="1" dirty="0">
                <a:solidFill>
                  <a:srgbClr val="121212"/>
                </a:solidFill>
                <a:latin typeface="Arial Black"/>
              </a:rPr>
              <a:t>STUDENT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E63A4B6-21F4-7C06-70FD-333F26F9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07 • EMPATHY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1269" y="1092903"/>
            <a:ext cx="2282483" cy="347472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06607" y="1132137"/>
            <a:ext cx="209397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PLACEMENT FACULTY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69FCE75-8E45-BF5D-8AD3-E245F0B02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5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273150"/>
            <a:ext cx="1737360" cy="347472"/>
          </a:xfrm>
          <a:prstGeom prst="round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46302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08 • PAIN &amp;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BFE046A-76D7-B4F3-7DA1-6FE50DE60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5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489" y="97926"/>
            <a:ext cx="2779542" cy="347472"/>
          </a:xfrm>
          <a:prstGeom prst="round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5641" y="137160"/>
            <a:ext cx="254226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09 • PROBLEM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0292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10 •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/>
              </a:rPr>
              <a:t>USER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881360" cy="32004"/>
          </a:xfrm>
          <a:prstGeom prst="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B9B9B9"/>
                </a:solidFill>
                <a:latin typeface="Arial"/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965960"/>
            <a:ext cx="384048" cy="384048"/>
          </a:xfrm>
          <a:prstGeom prst="ellipse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208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514600"/>
            <a:ext cx="1920240" cy="1874519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679192"/>
            <a:ext cx="15179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36392"/>
            <a:ext cx="1517904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Access profile and previous performance.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456432"/>
            <a:ext cx="228600" cy="0"/>
          </a:xfrm>
          <a:prstGeom prst="line">
            <a:avLst/>
          </a:prstGeom>
          <a:ln w="22860">
            <a:solidFill>
              <a:srgbClr val="F8F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383280" y="1965960"/>
            <a:ext cx="384048" cy="384048"/>
          </a:xfrm>
          <a:prstGeom prst="ellipse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20208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514600"/>
            <a:ext cx="1920240" cy="1874519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2679192"/>
            <a:ext cx="15179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136392"/>
            <a:ext cx="1517904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Choose company, role and interview type.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3456432"/>
            <a:ext cx="228600" cy="0"/>
          </a:xfrm>
          <a:prstGeom prst="line">
            <a:avLst/>
          </a:prstGeom>
          <a:ln w="22860">
            <a:solidFill>
              <a:srgbClr val="F8F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669280" y="1965960"/>
            <a:ext cx="384048" cy="384048"/>
          </a:xfrm>
          <a:prstGeom prst="ellipse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20208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2514600"/>
            <a:ext cx="1920240" cy="1874519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84648" y="2679192"/>
            <a:ext cx="15179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3136392"/>
            <a:ext cx="1517904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Upload/select resume and interview context.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49440" y="3456432"/>
            <a:ext cx="228600" cy="0"/>
          </a:xfrm>
          <a:prstGeom prst="line">
            <a:avLst/>
          </a:prstGeom>
          <a:ln w="22860">
            <a:solidFill>
              <a:srgbClr val="F8F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955279" y="1965960"/>
            <a:ext cx="384048" cy="384048"/>
          </a:xfrm>
          <a:prstGeom prst="ellipse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20208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2514600"/>
            <a:ext cx="1920240" cy="1874519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70648" y="2679192"/>
            <a:ext cx="15179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INTERVIEW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3136392"/>
            <a:ext cx="1517904" cy="623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121212"/>
                </a:solidFill>
                <a:latin typeface="Arial"/>
              </a:rPr>
              <a:t>Enter VR environment and answer questions.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35440" y="3456432"/>
            <a:ext cx="228600" cy="0"/>
          </a:xfrm>
          <a:prstGeom prst="line">
            <a:avLst/>
          </a:prstGeom>
          <a:ln w="22860">
            <a:solidFill>
              <a:srgbClr val="F8F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241280" y="1965960"/>
            <a:ext cx="384048" cy="384048"/>
          </a:xfrm>
          <a:prstGeom prst="ellipse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0" y="20208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  <a:latin typeface="Arial Black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2514600"/>
            <a:ext cx="1920240" cy="1874519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56648" y="2679192"/>
            <a:ext cx="15179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rial Black"/>
              </a:rP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136392"/>
            <a:ext cx="1517904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1212"/>
                </a:solidFill>
                <a:latin typeface="Arial"/>
              </a:rPr>
              <a:t>Review scores, feedback and improvement areas.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5074920"/>
            <a:ext cx="10149840" cy="822960"/>
          </a:xfrm>
          <a:prstGeom prst="round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42255" y="525663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21212"/>
                </a:solidFill>
                <a:latin typeface="Arial Black"/>
              </a:rPr>
              <a:t>CORE IDEA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298045"/>
            <a:ext cx="8458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Move interview practice closer to the real experience, then turn each session into actionable improvement.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9B9B9"/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8526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1" y="374904"/>
            <a:ext cx="238595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11 • DESIGN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2E6"/>
                </a:solidFill>
                <a:latin typeface="Arial Black"/>
              </a:rPr>
              <a:t>DESIGN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10881360" cy="32004"/>
          </a:xfrm>
          <a:prstGeom prst="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B9B9B9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74920" cy="150876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 Black"/>
              </a:rPr>
              <a:t>DESIGN &amp; PROTOTYPING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467258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21212"/>
                </a:solidFill>
                <a:latin typeface="Arial"/>
              </a:rPr>
              <a:t>VR interview environment • UI/UX prototype • Student and faculty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074920" cy="150876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993392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 Black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450592"/>
            <a:ext cx="4672583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Student surveys • Placement faculty interview • Empathy maps • Existing-platform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074920" cy="1508760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867911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 Black"/>
              </a:rP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325112"/>
            <a:ext cx="4672583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Usability testing • Mock interview trials • Feedback validation • Iterative refinement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5074920" cy="1508760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3867911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rial Black"/>
              </a:rPr>
              <a:t>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325112"/>
            <a:ext cx="4672583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rial"/>
              </a:rPr>
              <a:t>VR headset • Laptop/desktop fallback • Internet • Secure student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5806440"/>
            <a:ext cx="4183576" cy="347472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2190" y="5861303"/>
            <a:ext cx="4024455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ITERATE → TEST → DOCUMENT → REFINE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9B9B9"/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" y="320040"/>
            <a:ext cx="1737360" cy="347472"/>
          </a:xfrm>
          <a:prstGeom prst="round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749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12 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88136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/>
              </a:rPr>
              <a:t>A realistic interview experience designed around practice, feedback and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789920" cy="32004"/>
          </a:xfrm>
          <a:prstGeom prst="rect">
            <a:avLst/>
          </a:prstGeom>
          <a:solidFill>
            <a:srgbClr val="FF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737360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20370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HOW MIGHT WE...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10469880" cy="2057400"/>
          </a:xfrm>
          <a:prstGeom prst="round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97383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121212"/>
                </a:solidFill>
                <a:latin typeface="Arial"/>
              </a:rPr>
              <a:t>How might we design an VR-based mock interview platform that gives students realistic, company- and role-specific interview practice, adaptive follow-up questions and meaningful feedback while helping placement faculty understand student performance?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5257800"/>
            <a:ext cx="2246532" cy="347472"/>
          </a:xfrm>
          <a:prstGeom prst="roundRect">
            <a:avLst/>
          </a:prstGeom>
          <a:solidFill>
            <a:srgbClr val="D2F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39112" y="5312664"/>
            <a:ext cx="209522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rial Black"/>
              </a:rPr>
              <a:t>REALISTIC PRACTICE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257800"/>
            <a:ext cx="1958535" cy="347472"/>
          </a:xfrm>
          <a:prstGeom prst="roundRect">
            <a:avLst/>
          </a:prstGeom>
          <a:solidFill>
            <a:srgbClr val="B2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8032" y="5312664"/>
            <a:ext cx="18228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SMART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8" y="5257800"/>
            <a:ext cx="2331721" cy="347472"/>
          </a:xfrm>
          <a:prstGeom prst="roundRect">
            <a:avLst/>
          </a:prstGeom>
          <a:solidFill>
            <a:srgbClr val="FFC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71230" y="5312664"/>
            <a:ext cx="225856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 Black"/>
              </a:rPr>
              <a:t>PLACEMENT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5989320"/>
            <a:ext cx="6400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B9B9B9"/>
                </a:solidFill>
                <a:latin typeface="Arial"/>
              </a:rPr>
              <a:t>VR • ADAPTIVE INTERVIEW • FEEDBACK •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632764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B2A9F5"/>
                </a:solidFill>
                <a:latin typeface="Arial Black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9B9B9"/>
                </a:solidFill>
                <a:latin typeface="Arial"/>
              </a:rPr>
              <a:t>MS INNOVATE • DESIGN THINKING &amp;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648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Mukesh V A</cp:lastModifiedBy>
  <cp:revision>3</cp:revision>
  <dcterms:created xsi:type="dcterms:W3CDTF">2013-01-27T09:14:16Z</dcterms:created>
  <dcterms:modified xsi:type="dcterms:W3CDTF">2026-08-26T09:50:05Z</dcterms:modified>
  <cp:category/>
</cp:coreProperties>
</file>